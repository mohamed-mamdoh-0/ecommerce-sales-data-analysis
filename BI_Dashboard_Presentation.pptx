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265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-178" y="-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84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ppt-workspace/assets/cover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317950" y="952202"/>
            <a:ext cx="507950" cy="38100"/>
          </a:xfrm>
          <a:prstGeom prst="roundRect">
            <a:avLst>
              <a:gd name="adj" fmla="val 6666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6018" y="1244203"/>
            <a:ext cx="8636000" cy="47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Financial Reconciliation &amp; Monthly Closing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1764804"/>
            <a:ext cx="859536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60"/>
              </a:lnSpc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من البيانات الخام إلى الرؤى التنفيذية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191000" y="2331095"/>
            <a:ext cx="762000" cy="19050"/>
          </a:xfrm>
          <a:prstGeom prst="roundRect">
            <a:avLst>
              <a:gd name="adj" fmla="val 133334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104852" y="2604046"/>
            <a:ext cx="69341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400" dirty="0">
                <a:solidFill>
                  <a:srgbClr val="F8FAFC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لوحة تسوية مالية شهرية متكاملة - Case Study لتحليل بيانات 99,441 طلب باستخدام Excel BI Stack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43400" y="3442246"/>
            <a:ext cx="457200" cy="12650"/>
          </a:xfrm>
          <a:prstGeom prst="rect">
            <a:avLst/>
          </a:prstGeom>
          <a:solidFill>
            <a:srgbClr val="F8FAFC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046780" y="3658046"/>
            <a:ext cx="105044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98451" y="3908584"/>
            <a:ext cx="214694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Mohamed </a:t>
            </a:r>
            <a:r>
              <a:rPr lang="en-US" sz="1600" b="1" dirty="0" err="1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Mamdoh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45" y="241102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نظرة عامة على المشروع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1545" y="583853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Project Overview - Financial Reconciliation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906363"/>
            <a:ext cx="4825901" cy="606326"/>
          </a:xfrm>
          <a:prstGeom prst="roundRect">
            <a:avLst>
              <a:gd name="adj" fmla="val 1675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home/z/my-project/download/ppt-workspace/assets/icon-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27" y="1082576"/>
            <a:ext cx="253901" cy="253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4378" y="1030188"/>
            <a:ext cx="447765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Power Query (ETL)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74378" y="1226939"/>
            <a:ext cx="447765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ar-EG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</a:rPr>
              <a:t>معالجة وتنظيف 99,441 سطر بيانات</a:t>
            </a:r>
            <a:endParaRPr lang="en-US" sz="1100" dirty="0">
              <a:solidFill>
                <a:srgbClr val="F8FAFC">
                  <a:alpha val="55000"/>
                </a:srgbClr>
              </a:solidFill>
              <a:latin typeface="Corbel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6301" y="1601539"/>
            <a:ext cx="4825901" cy="606326"/>
          </a:xfrm>
          <a:prstGeom prst="roundRect">
            <a:avLst>
              <a:gd name="adj" fmla="val 1675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/home/z/my-project/download/ppt-workspace/assets/icon-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27" y="1777752"/>
            <a:ext cx="253901" cy="2539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4378" y="1725364"/>
            <a:ext cx="447765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Power Pivot (Data Model)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74378" y="1922115"/>
            <a:ext cx="447765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ar-EG" sz="1100" dirty="0"/>
              <a:t> </a:t>
            </a:r>
            <a:r>
              <a:rPr lang="ar-EG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</a:rPr>
              <a:t>بين</a:t>
            </a:r>
            <a:r>
              <a:rPr lang="ar-EG" sz="1100" dirty="0"/>
              <a:t> </a:t>
            </a:r>
            <a:r>
              <a:rPr lang="ar-EG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</a:rPr>
              <a:t>الجداول </a:t>
            </a: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</a:rPr>
              <a:t>Star Schema </a:t>
            </a:r>
            <a:r>
              <a:rPr lang="ar-EG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</a:rPr>
              <a:t>بناء علاقات</a:t>
            </a:r>
            <a:endParaRPr lang="en-US" sz="1100" dirty="0">
              <a:solidFill>
                <a:srgbClr val="F8FAFC">
                  <a:alpha val="55000"/>
                </a:srgbClr>
              </a:solidFill>
              <a:latin typeface="Corbel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06301" y="2296716"/>
            <a:ext cx="4825901" cy="758726"/>
          </a:xfrm>
          <a:prstGeom prst="roundRect">
            <a:avLst>
              <a:gd name="adj" fmla="val 1339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/home/z/my-project/download/ppt-workspace/assets/icon-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27" y="2549128"/>
            <a:ext cx="253901" cy="2539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4378" y="2420541"/>
            <a:ext cx="47218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74378" y="2617291"/>
            <a:ext cx="4274128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</a:rPr>
              <a:t>(KPIs) </a:t>
            </a:r>
            <a:r>
              <a:rPr lang="ar-EG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</a:rPr>
              <a:t>برمجة المعادلات المالية والمؤشرات</a:t>
            </a:r>
            <a:endParaRPr lang="en-US" sz="1100" dirty="0">
              <a:solidFill>
                <a:srgbClr val="F8FAFC">
                  <a:alpha val="55000"/>
                </a:srgbClr>
              </a:solidFill>
              <a:latin typeface="Corbel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06301" y="3144292"/>
            <a:ext cx="4825901" cy="606326"/>
          </a:xfrm>
          <a:prstGeom prst="roundRect">
            <a:avLst>
              <a:gd name="adj" fmla="val 1675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/home/z/my-project/download/ppt-workspace/assets/icon-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27" y="3320504"/>
            <a:ext cx="253901" cy="2539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4378" y="3268117"/>
            <a:ext cx="447765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74378" y="3464868"/>
            <a:ext cx="447765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ar-EG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</a:rPr>
              <a:t>تصميم واجهة تفاعلية لدعم اتخاذ القرار</a:t>
            </a:r>
            <a:endParaRPr lang="en-US" sz="1100" dirty="0">
              <a:solidFill>
                <a:srgbClr val="F8FAFC">
                  <a:alpha val="55000"/>
                </a:srgbClr>
              </a:solidFill>
              <a:latin typeface="Corbel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5409902" y="1396603"/>
            <a:ext cx="3327797" cy="958602"/>
          </a:xfrm>
          <a:prstGeom prst="roundRect">
            <a:avLst>
              <a:gd name="adj" fmla="val 13248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331327" y="1583829"/>
            <a:ext cx="348494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إجمالي الإيرادات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154126" y="1796504"/>
            <a:ext cx="3839349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$15.47M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5409902" y="2456706"/>
            <a:ext cx="3327797" cy="958602"/>
          </a:xfrm>
          <a:prstGeom prst="roundRect">
            <a:avLst>
              <a:gd name="adj" fmla="val 13248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5242727" y="2643932"/>
            <a:ext cx="366214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صافي الربح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154126" y="2856607"/>
            <a:ext cx="3839349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$11.02M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5409902" y="3516809"/>
            <a:ext cx="3327797" cy="958602"/>
          </a:xfrm>
          <a:prstGeom prst="roundRect">
            <a:avLst>
              <a:gd name="adj" fmla="val 13248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5331327" y="3704034"/>
            <a:ext cx="348494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هامش الربح الإجمالي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035993" y="3916710"/>
            <a:ext cx="4075617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71.24%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41102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مجموعة البيانات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1545" y="583853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Dataset Overview - 99,441 Records, 20 Columns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906363"/>
            <a:ext cx="4063901" cy="1073051"/>
          </a:xfrm>
          <a:prstGeom prst="roundRect">
            <a:avLst>
              <a:gd name="adj" fmla="val 946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home/z/my-project/download/ppt-workspace/assets/icon-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6" y="106828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077" y="1082576"/>
            <a:ext cx="162585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99,441 سجل طلب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8976" y="1398389"/>
            <a:ext cx="3820477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مجموعة بيانات تضم معلومات الطلبات والمدفوعات والشحن والتسليم عبر 3 سنوات (2016-2018)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6301" y="2080915"/>
            <a:ext cx="4063901" cy="1073051"/>
          </a:xfrm>
          <a:prstGeom prst="roundRect">
            <a:avLst>
              <a:gd name="adj" fmla="val 946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/home/z/my-project/download/ppt-workspace/assets/icon-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76" y="22428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9077" y="2257127"/>
            <a:ext cx="135190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 جداول مترابطة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18976" y="2572941"/>
            <a:ext cx="3820477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DataSet, orders, order_payments, order_items, items_new, Payment_new, Range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47902" y="906363"/>
            <a:ext cx="4089797" cy="374452"/>
          </a:xfrm>
          <a:prstGeom prst="roundRect">
            <a:avLst>
              <a:gd name="adj" fmla="val 27133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835128" y="1017389"/>
            <a:ext cx="430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Columns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47902" y="1280815"/>
            <a:ext cx="4089797" cy="17716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8732937" y="1280815"/>
            <a:ext cx="0" cy="17716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647902" y="3047702"/>
            <a:ext cx="40897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652665" y="1280815"/>
            <a:ext cx="0" cy="17716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657427" y="1676102"/>
            <a:ext cx="40707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35128" y="1433215"/>
            <a:ext cx="181597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order_id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232029" y="1433215"/>
            <a:ext cx="1406694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معرف الطلب الفريد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57427" y="1999952"/>
            <a:ext cx="40707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35128" y="1757065"/>
            <a:ext cx="173215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order_status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232029" y="1757065"/>
            <a:ext cx="2522565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حالة الطلب (delivered, canceled...)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657427" y="2323802"/>
            <a:ext cx="40707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835128" y="2080915"/>
            <a:ext cx="164834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Total_Payment_Value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232029" y="2080915"/>
            <a:ext cx="128305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إجمالي قيمة الدفع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657427" y="2647652"/>
            <a:ext cx="407074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835128" y="2404765"/>
            <a:ext cx="173215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Payment_Method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232029" y="2404765"/>
            <a:ext cx="250324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طريقة الدفع (credit_card, boleto...)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35128" y="2728615"/>
            <a:ext cx="164834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Diff_delivery_order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232029" y="2728615"/>
            <a:ext cx="2236134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أيام التوصيل الفعلية vs المتوقعة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41102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خط أنابيب البيانات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1545" y="583853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ETL Pipeline - Power Query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1775817"/>
            <a:ext cx="2353866" cy="1501527"/>
          </a:xfrm>
          <a:prstGeom prst="roundRect">
            <a:avLst>
              <a:gd name="adj" fmla="val 8458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home/z/my-project/download/ppt-workspace/assets/icon-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834" y="1963043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6614" y="2344043"/>
            <a:ext cx="25732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EXTRACT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4041" y="2604343"/>
            <a:ext cx="207838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استخراج البيانات من مصادر متعددة: Orders, Payments, Items</a:t>
            </a:r>
            <a:endParaRPr lang="en-US" sz="1100" dirty="0"/>
          </a:p>
        </p:txBody>
      </p:sp>
      <p:pic>
        <p:nvPicPr>
          <p:cNvPr id="9" name="Image 1" descr="/home/z/my-project/download/ppt-workspace/assets/icon-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666" y="2399556"/>
            <a:ext cx="253901" cy="2539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95067" y="1775817"/>
            <a:ext cx="2353866" cy="1501527"/>
          </a:xfrm>
          <a:prstGeom prst="roundRect">
            <a:avLst>
              <a:gd name="adj" fmla="val 8458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/home/z/my-project/download/ppt-workspace/assets/icon-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963043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85381" y="2344043"/>
            <a:ext cx="25732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532808" y="2604343"/>
            <a:ext cx="2078385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تنظيف ودمج: إزالة القيم المفقودة، تصحيح أنواع البيانات، إنشاء Month Num</a:t>
            </a:r>
            <a:endParaRPr lang="en-US" sz="1100" dirty="0"/>
          </a:p>
        </p:txBody>
      </p:sp>
      <p:pic>
        <p:nvPicPr>
          <p:cNvPr id="14" name="Image 3" descr="/home/z/my-project/download/ppt-workspace/assets/icon-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433" y="2399556"/>
            <a:ext cx="253901" cy="2539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83834" y="1775817"/>
            <a:ext cx="2353866" cy="1501527"/>
          </a:xfrm>
          <a:prstGeom prst="roundRect">
            <a:avLst>
              <a:gd name="adj" fmla="val 8458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4" descr="/home/z/my-project/download/ppt-workspace/assets/icon-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8366" y="1963043"/>
            <a:ext cx="304800" cy="304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74147" y="2344043"/>
            <a:ext cx="25732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LOAD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6521574" y="2604343"/>
            <a:ext cx="2078385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تحميل 99,441 سجل إلى Power Pivot Data Model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06301" y="3404295"/>
            <a:ext cx="8331398" cy="692051"/>
          </a:xfrm>
          <a:prstGeom prst="roundRect">
            <a:avLst>
              <a:gd name="adj" fmla="val 1468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618976" y="3540770"/>
            <a:ext cx="830135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8FAFC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تم استخدام Power Query لمعالجة البيانات الخام: دمج جداول order_payments و order_items مع orders، إنشاء أعمدة محسوبة مثل Month Name و Delay_orders، وتحويل البيانات إلى نموذج جاهز للتحليل في Power Pivot.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مقاييس DAX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DAX Business Logic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830312"/>
            <a:ext cx="2692301" cy="984052"/>
          </a:xfrm>
          <a:prstGeom prst="roundRect">
            <a:avLst>
              <a:gd name="adj" fmla="val 1032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776" y="941338"/>
            <a:ext cx="2999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2776" y="1131838"/>
            <a:ext cx="254031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SUMX(RELATEDTABLE(Payments), [Total_Payment_Value])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2776" y="1493788"/>
            <a:ext cx="319354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$15,473,408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87452" y="830312"/>
            <a:ext cx="2692301" cy="984052"/>
          </a:xfrm>
          <a:prstGeom prst="roundRect">
            <a:avLst>
              <a:gd name="adj" fmla="val 1032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23927" y="941338"/>
            <a:ext cx="2999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23927" y="1131838"/>
            <a:ext cx="254031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[Revenue] - SUM(Freight) - SUM(Price)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3927" y="1493788"/>
            <a:ext cx="319354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$11,023,222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68603" y="830312"/>
            <a:ext cx="2692301" cy="984052"/>
          </a:xfrm>
          <a:prstGeom prst="roundRect">
            <a:avLst>
              <a:gd name="adj" fmla="val 1032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05079" y="941338"/>
            <a:ext cx="2999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05079" y="1131838"/>
            <a:ext cx="254031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DIVIDE([Net Profit], [Total Revenue], 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05079" y="1493788"/>
            <a:ext cx="303892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71.24%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6301" y="1903214"/>
            <a:ext cx="2692301" cy="984052"/>
          </a:xfrm>
          <a:prstGeom prst="roundRect">
            <a:avLst>
              <a:gd name="adj" fmla="val 1032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2776" y="2014240"/>
            <a:ext cx="28548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Revenue Reconciliation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2776" y="2204740"/>
            <a:ext cx="254031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DIVIDE([Pay Received], [Expected Rev], 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2776" y="2566690"/>
            <a:ext cx="333870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96.66%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87452" y="1903214"/>
            <a:ext cx="2692301" cy="984052"/>
          </a:xfrm>
          <a:prstGeom prst="roundRect">
            <a:avLst>
              <a:gd name="adj" fmla="val 1032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23927" y="2014240"/>
            <a:ext cx="2999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Avg Delay Days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23927" y="2204740"/>
            <a:ext cx="285483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AVERAGE(Orders[Diff_delivery_order])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23927" y="2404765"/>
            <a:ext cx="314515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10.6 Days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68603" y="1903214"/>
            <a:ext cx="2692301" cy="984052"/>
          </a:xfrm>
          <a:prstGeom prst="roundRect">
            <a:avLst>
              <a:gd name="adj" fmla="val 1032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05079" y="2014240"/>
            <a:ext cx="28548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Late Deliveries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05079" y="2204740"/>
            <a:ext cx="254031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CALCULATE(COUNTROWS(Orders), Delay&gt;0)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05079" y="2566690"/>
            <a:ext cx="303892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6,535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التحديات التقنية والحلول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Technical Challenges &amp; Solutions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1528167"/>
            <a:ext cx="406301" cy="853976"/>
          </a:xfrm>
          <a:prstGeom prst="roundRect">
            <a:avLst>
              <a:gd name="adj" fmla="val 25006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home/z/my-project/download/ppt-workspace/assets/icon-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51" y="1840855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9552" y="1528167"/>
            <a:ext cx="7798147" cy="853976"/>
          </a:xfrm>
          <a:prstGeom prst="roundRect">
            <a:avLst>
              <a:gd name="adj" fmla="val 1189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126778" y="1664643"/>
            <a:ext cx="8017222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ترتيب الأشهر أبجدياً بدلاً من زمنياً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6778" y="1883718"/>
            <a:ext cx="801722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الحل: إنشاء عمود Month Num بـ =MONTH(DATEVALUE([MonthName]&amp;" 1")) ثم Sort By Column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6778" y="2083743"/>
            <a:ext cx="801722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Sort By Column: Month Num -&gt; Month Name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6301" y="2483644"/>
            <a:ext cx="406301" cy="853976"/>
          </a:xfrm>
          <a:prstGeom prst="roundRect">
            <a:avLst>
              <a:gd name="adj" fmla="val 25006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/home/z/my-project/download/ppt-workspace/assets/icon-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51" y="279633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9552" y="2483644"/>
            <a:ext cx="7798147" cy="853976"/>
          </a:xfrm>
          <a:prstGeom prst="roundRect">
            <a:avLst>
              <a:gd name="adj" fmla="val 1189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126778" y="2620119"/>
            <a:ext cx="8017222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قيم مفقودة في تواريخ التسليم والمدفوعات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26778" y="2839194"/>
            <a:ext cx="801722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الحل: استخدام IFERROR + منطق تحقق لضمان نظافة الحسابات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26778" y="3039219"/>
            <a:ext cx="801722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IFERROR(DIVIDE(a,b),0) for safe measures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06301" y="3439120"/>
            <a:ext cx="406301" cy="853976"/>
          </a:xfrm>
          <a:prstGeom prst="roundRect">
            <a:avLst>
              <a:gd name="adj" fmla="val 25006"/>
            </a:avLst>
          </a:prstGeom>
          <a:solidFill>
            <a:srgbClr val="06B6D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/home/z/my-project/download/ppt-workspace/assets/icon-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51" y="375180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9552" y="3439120"/>
            <a:ext cx="7798147" cy="853976"/>
          </a:xfrm>
          <a:prstGeom prst="roundRect">
            <a:avLst>
              <a:gd name="adj" fmla="val 1189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126778" y="3575596"/>
            <a:ext cx="8017222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بطء التحديث مع 99K+ سجل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26778" y="3794671"/>
            <a:ext cx="801722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الحل: GETPIVOTDATA Processing Layer لاسترجاع البيانات المحسّنة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26778" y="3994696"/>
            <a:ext cx="801722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Processing Sheet as intermediate layer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" y="241102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نظرة شاملة على لوحة القيادة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83853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Dashboard Overview - Financial Reconciliation &amp; Monthly 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2650" y="1145381"/>
            <a:ext cx="5587901" cy="3555950"/>
          </a:xfrm>
          <a:prstGeom prst="roundRect">
            <a:avLst>
              <a:gd name="adj" fmla="val 357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24749" y="1483816"/>
            <a:ext cx="2412950" cy="374452"/>
          </a:xfrm>
          <a:prstGeom prst="roundRect">
            <a:avLst>
              <a:gd name="adj" fmla="val 2035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/home/z/my-project/download/ppt-workspace/assets/icon-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224" y="1582192"/>
            <a:ext cx="177701" cy="1777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40426" y="1594842"/>
            <a:ext cx="11833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Financial KPIs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324749" y="1947118"/>
            <a:ext cx="2412950" cy="374452"/>
          </a:xfrm>
          <a:prstGeom prst="roundRect">
            <a:avLst>
              <a:gd name="adj" fmla="val 20350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/home/z/my-project/download/ppt-workspace/assets/icon-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224" y="2045494"/>
            <a:ext cx="177701" cy="1777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40426" y="2058144"/>
            <a:ext cx="153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Monthly Orders Bar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324749" y="2410420"/>
            <a:ext cx="2412950" cy="374452"/>
          </a:xfrm>
          <a:prstGeom prst="roundRect">
            <a:avLst>
              <a:gd name="adj" fmla="val 20350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3" descr="/home/z/my-project/download/ppt-workspace/assets/icon-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224" y="2508796"/>
            <a:ext cx="177701" cy="1777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0426" y="2521446"/>
            <a:ext cx="16388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Late Deliveries Chart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324749" y="2873722"/>
            <a:ext cx="2412950" cy="374452"/>
          </a:xfrm>
          <a:prstGeom prst="roundRect">
            <a:avLst>
              <a:gd name="adj" fmla="val 2035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/home/z/my-project/download/ppt-workspace/assets/icon-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224" y="2972098"/>
            <a:ext cx="177701" cy="17770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40426" y="2984748"/>
            <a:ext cx="172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Payment Gauge Chart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6324749" y="3337024"/>
            <a:ext cx="2412950" cy="374452"/>
          </a:xfrm>
          <a:prstGeom prst="roundRect">
            <a:avLst>
              <a:gd name="adj" fmla="val 20350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5" descr="/home/z/my-project/download/ppt-workspace/assets/icon-fil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224" y="3435400"/>
            <a:ext cx="177701" cy="17770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40426" y="3448050"/>
            <a:ext cx="14102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Interactive Slicers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6324749" y="3800326"/>
            <a:ext cx="2412950" cy="562570"/>
          </a:xfrm>
          <a:prstGeom prst="roundRect">
            <a:avLst>
              <a:gd name="adj" fmla="val 1354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6461224" y="3886051"/>
            <a:ext cx="224700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داشبورد متكامل يجمع المؤشرات المالية والتشغيلية في واجهة واحدة</a:t>
            </a:r>
            <a:endParaRPr lang="en-US" sz="1100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1D2F00BF-5045-D255-98D1-1ACAE44CD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880" y="926526"/>
            <a:ext cx="6098153" cy="4091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شرائح التصفية التفاعلية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Interactive Slicers &amp; Filters - From Dashboard Screenshot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855613"/>
            <a:ext cx="4597747" cy="1273076"/>
          </a:xfrm>
          <a:prstGeom prst="roundRect">
            <a:avLst>
              <a:gd name="adj" fmla="val 7981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home/z/my-project/download/ppt-workspace/assets/icon-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6" y="1017538"/>
            <a:ext cx="203150" cy="203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3627" y="1019026"/>
            <a:ext cx="137121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Timeline Slicer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8976" y="1296888"/>
            <a:ext cx="4381016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يتيح تصفية البيانات حسب الفترة الزمنية - مرتبط بـ order_purchase_timestamp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8976" y="1661964"/>
            <a:ext cx="4589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Years: 2016 | 2017 | 2018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8976" y="1814364"/>
            <a:ext cx="4589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Months: January - December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6301" y="2230189"/>
            <a:ext cx="4597747" cy="1120676"/>
          </a:xfrm>
          <a:prstGeom prst="roundRect">
            <a:avLst>
              <a:gd name="adj" fmla="val 9066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/home/z/my-project/download/ppt-workspace/assets/icon-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6" y="2392114"/>
            <a:ext cx="203150" cy="2031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23627" y="2393603"/>
            <a:ext cx="176442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Order Status Slicer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18976" y="2671465"/>
            <a:ext cx="4589636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أزرار تفاعلية لتصفية فورية لجميع الرسوم البيانية والمؤشرات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8976" y="2884140"/>
            <a:ext cx="4589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approved | canceled | created | delivered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18976" y="3036540"/>
            <a:ext cx="4589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invoiced | processing | shipped | unavailable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181749" y="1242566"/>
            <a:ext cx="3555950" cy="1114276"/>
          </a:xfrm>
          <a:prstGeom prst="roundRect">
            <a:avLst>
              <a:gd name="adj" fmla="val 911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368975" y="1379041"/>
            <a:ext cx="349964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لماذا تم إنشاء هذه الشرائح؟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368975" y="1591717"/>
            <a:ext cx="334057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تمكين الإدارة من تصفية البيانات ديناميكياً حسب أي فترة زمنية أو حالة طلب، مما يتيح تحليلاً مخصصاً بدون تعديل المصنف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81749" y="2458343"/>
            <a:ext cx="3555950" cy="904726"/>
          </a:xfrm>
          <a:prstGeom prst="roundRect">
            <a:avLst>
              <a:gd name="adj" fmla="val 1123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368975" y="2594818"/>
            <a:ext cx="349964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ما القرارات التي تدعمها؟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368975" y="2807494"/>
            <a:ext cx="334057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مقارنة أداء الأرباع السنوية، تحليل أثر الإلغاءات على الإيرادات، مراقبة التوصيل المتأخر حسب الشهر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81749" y="3464570"/>
            <a:ext cx="3555950" cy="1114276"/>
          </a:xfrm>
          <a:prstGeom prst="roundRect">
            <a:avLst>
              <a:gd name="adj" fmla="val 911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368975" y="3601045"/>
            <a:ext cx="349964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ما الرؤى المكتسبة؟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368975" y="3813721"/>
            <a:ext cx="334057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الشرائح تكشف فوراً أن 2018 كان أفضل عام في الطلبات، وأن التوصيل المتأخر يتركز في مارس ونوفمبر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الطلبات الشهرية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Monthly Orders - Count Order Per Month (From Dashboard)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1885206"/>
            <a:ext cx="5359747" cy="2050852"/>
          </a:xfrm>
          <a:prstGeom prst="roundRect">
            <a:avLst>
              <a:gd name="adj" fmla="val 49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527" y="2021681"/>
            <a:ext cx="5483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Monthly Order Volume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0145" y="2618780"/>
            <a:ext cx="3734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8.1K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277" y="2796480"/>
            <a:ext cx="358973" cy="825401"/>
          </a:xfrm>
          <a:prstGeom prst="roundRect">
            <a:avLst>
              <a:gd name="adj" fmla="val 106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101" y="3647182"/>
            <a:ext cx="29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89868" y="2567880"/>
            <a:ext cx="3734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8.5K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4001" y="2745581"/>
            <a:ext cx="358973" cy="876300"/>
          </a:xfrm>
          <a:prstGeom prst="roundRect">
            <a:avLst>
              <a:gd name="adj" fmla="val 106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13086" y="3647182"/>
            <a:ext cx="3128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99592" y="2428280"/>
            <a:ext cx="3734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9.9K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725" y="2605980"/>
            <a:ext cx="358973" cy="1015901"/>
          </a:xfrm>
          <a:prstGeom prst="roundRect">
            <a:avLst>
              <a:gd name="adj" fmla="val 106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2958" y="3647182"/>
            <a:ext cx="3126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09316" y="2491680"/>
            <a:ext cx="3734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9.3K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3448" y="2669381"/>
            <a:ext cx="358973" cy="952500"/>
          </a:xfrm>
          <a:prstGeom prst="roundRect">
            <a:avLst>
              <a:gd name="adj" fmla="val 106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44291" y="3647182"/>
            <a:ext cx="28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3172" y="2352080"/>
            <a:ext cx="4744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10.6K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3172" y="2529780"/>
            <a:ext cx="364927" cy="1092101"/>
          </a:xfrm>
          <a:prstGeom prst="roundRect">
            <a:avLst>
              <a:gd name="adj" fmla="val 1044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33625" y="3647182"/>
            <a:ext cx="343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34717" y="2479030"/>
            <a:ext cx="3734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9.4K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8849" y="2656731"/>
            <a:ext cx="358973" cy="965150"/>
          </a:xfrm>
          <a:prstGeom prst="roundRect">
            <a:avLst>
              <a:gd name="adj" fmla="val 106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65673" y="3647182"/>
            <a:ext cx="29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573" y="2390180"/>
            <a:ext cx="4744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10.3K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573" y="2567880"/>
            <a:ext cx="364927" cy="1054001"/>
          </a:xfrm>
          <a:prstGeom prst="roundRect">
            <a:avLst>
              <a:gd name="adj" fmla="val 1044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201739" y="3647182"/>
            <a:ext cx="232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4250" y="2326630"/>
            <a:ext cx="4744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10.8K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4250" y="2504331"/>
            <a:ext cx="364927" cy="1117550"/>
          </a:xfrm>
          <a:prstGeom prst="roundRect">
            <a:avLst>
              <a:gd name="adj" fmla="val 1044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82442" y="364718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5795" y="2999780"/>
            <a:ext cx="3734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4.3K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9927" y="3177480"/>
            <a:ext cx="358973" cy="444401"/>
          </a:xfrm>
          <a:prstGeom prst="roundRect">
            <a:avLst>
              <a:gd name="adj" fmla="val 10614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995142" y="364718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5518" y="2936230"/>
            <a:ext cx="3734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5.0K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49651" y="3113931"/>
            <a:ext cx="358973" cy="507950"/>
          </a:xfrm>
          <a:prstGeom prst="roundRect">
            <a:avLst>
              <a:gd name="adj" fmla="val 106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20493" y="3647182"/>
            <a:ext cx="28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95242" y="2669530"/>
            <a:ext cx="3734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7.5K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9375" y="2847231"/>
            <a:ext cx="358973" cy="774650"/>
          </a:xfrm>
          <a:prstGeom prst="roundRect">
            <a:avLst>
              <a:gd name="adj" fmla="val 106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14590" y="364718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Nov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04966" y="2860030"/>
            <a:ext cx="3734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5.7K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9098" y="3037731"/>
            <a:ext cx="358973" cy="584150"/>
          </a:xfrm>
          <a:prstGeom prst="roundRect">
            <a:avLst>
              <a:gd name="adj" fmla="val 106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24314" y="364718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749" y="1412974"/>
            <a:ext cx="2793950" cy="864096"/>
          </a:xfrm>
          <a:prstGeom prst="roundRect">
            <a:avLst>
              <a:gd name="adj" fmla="val 11758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30975" y="1549450"/>
            <a:ext cx="285500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لماذا تم إنشاء هذا الرسم؟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30975" y="1749475"/>
            <a:ext cx="254047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لكشف الأنماط الموسمية في حجم الطلبات وتحديد أشهر الذروة والانخفاض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749" y="2378571"/>
            <a:ext cx="2793950" cy="864096"/>
          </a:xfrm>
          <a:prstGeom prst="roundRect">
            <a:avLst>
              <a:gd name="adj" fmla="val 11758"/>
            </a:avLst>
          </a:prstGeom>
          <a:solidFill>
            <a:srgbClr val="16A34A">
              <a:alpha val="8000"/>
            </a:srgbClr>
          </a:solidFill>
          <a:ln w="9525">
            <a:solidFill>
              <a:srgbClr val="16A3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30975" y="2515046"/>
            <a:ext cx="285500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ما KPI الذي يقيسه؟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30975" y="2715071"/>
            <a:ext cx="254047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Count of order_id لكل شهر - مؤشر حجم الأعمال والطلب السوقي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43749" y="3344168"/>
            <a:ext cx="2793950" cy="1064121"/>
          </a:xfrm>
          <a:prstGeom prst="roundRect">
            <a:avLst>
              <a:gd name="adj" fmla="val 9548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30975" y="3480643"/>
            <a:ext cx="285500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أعلى: أغسطس 10,843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30975" y="3680668"/>
            <a:ext cx="285500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أدنى: سبتمبر 4,305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30975" y="3880693"/>
            <a:ext cx="254047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انخفاض حاد في النصف الثاني يشير لعامل موسمي</a:t>
            </a:r>
            <a:endParaRPr lang="en-US" sz="1100" dirty="0"/>
          </a:p>
        </p:txBody>
      </p:sp>
      <p:sp>
        <p:nvSpPr>
          <p:cNvPr id="57" name="TextBox 27">
            <a:extLst>
              <a:ext uri="{FF2B5EF4-FFF2-40B4-BE49-F238E27FC236}">
                <a16:creationId xmlns:a16="http://schemas.microsoft.com/office/drawing/2014/main" id="{650D5311-75A0-4FB0-9992-2BC07935C8C9}"/>
              </a:ext>
            </a:extLst>
          </p:cNvPr>
          <p:cNvSpPr txBox="1"/>
          <p:nvPr/>
        </p:nvSpPr>
        <p:spPr>
          <a:xfrm>
            <a:off x="1277528" y="2040334"/>
            <a:ext cx="1299882" cy="23906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600" b="0" i="0" u="none" strike="noStrike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توزيع حالات الطلب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Order Status Breakdown - From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44650" y="1966168"/>
            <a:ext cx="1650950" cy="1650950"/>
          </a:xfrm>
          <a:prstGeom prst="roundRect">
            <a:avLst>
              <a:gd name="adj" fmla="val 55386"/>
            </a:avLst>
          </a:prstGeom>
          <a:solidFill>
            <a:srgbClr val="22C55E">
              <a:alpha val="15000"/>
            </a:srgbClr>
          </a:solidFill>
          <a:ln w="38100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14202" y="2510582"/>
            <a:ext cx="982141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75222" y="2920157"/>
            <a:ext cx="7667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541" y="3693319"/>
            <a:ext cx="208071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96,478 طلب تم تسليمه بنجاح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11798" y="1514475"/>
            <a:ext cx="4825901" cy="383977"/>
          </a:xfrm>
          <a:prstGeom prst="roundRect">
            <a:avLst>
              <a:gd name="adj" fmla="val 19845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73723" y="165571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76725" y="1630263"/>
            <a:ext cx="13206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127" y="1630263"/>
            <a:ext cx="14019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97.02%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11528" y="1625501"/>
            <a:ext cx="955584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96,478 طلب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11798" y="1974652"/>
            <a:ext cx="4825901" cy="383977"/>
          </a:xfrm>
          <a:prstGeom prst="roundRect">
            <a:avLst>
              <a:gd name="adj" fmla="val 19845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73723" y="211588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76725" y="2090440"/>
            <a:ext cx="13206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Shipped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127" y="2090440"/>
            <a:ext cx="14019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1.11%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1528" y="2085677"/>
            <a:ext cx="121211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1,107 قيد الشحن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11798" y="2434828"/>
            <a:ext cx="4825901" cy="383977"/>
          </a:xfrm>
          <a:prstGeom prst="roundRect">
            <a:avLst>
              <a:gd name="adj" fmla="val 19845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73723" y="257606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76725" y="2550616"/>
            <a:ext cx="13206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Canceled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127" y="2550616"/>
            <a:ext cx="14019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0.63%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1528" y="2545854"/>
            <a:ext cx="115304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625 طلب ملغي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11798" y="2895005"/>
            <a:ext cx="4825901" cy="526852"/>
          </a:xfrm>
          <a:prstGeom prst="roundRect">
            <a:avLst>
              <a:gd name="adj" fmla="val 14463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73723" y="310768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76725" y="3082230"/>
            <a:ext cx="12889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Other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69719" y="3082230"/>
            <a:ext cx="13682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1.24%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62713" y="3006030"/>
            <a:ext cx="2218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unavailable, invoiced, processing...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11798" y="3498056"/>
            <a:ext cx="4825901" cy="808732"/>
          </a:xfrm>
          <a:prstGeom prst="roundRect">
            <a:avLst>
              <a:gd name="adj" fmla="val 9422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073723" y="3609082"/>
            <a:ext cx="4727153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نسبة التسليم 97% تعكس كفاءة تشغيلية عالية. معدل الإلغاء 0.63% منخفض جداً ويشير لرضا العملاء. القرار: مراقبة الـ 1.11% المشحونة للتأكد من تسليمها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أداء التوصيل - التوصيلات المتأخرة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Delivery Performance - Late Deliveries by Month (From Dashboard)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1961852"/>
            <a:ext cx="5232797" cy="1897559"/>
          </a:xfrm>
          <a:prstGeom prst="roundRect">
            <a:avLst>
              <a:gd name="adj" fmla="val 53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527" y="2098328"/>
            <a:ext cx="53441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Late Deliveries by Month (Horizontal Bar)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3527" y="2364879"/>
            <a:ext cx="462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9827" y="2352229"/>
            <a:ext cx="2539901" cy="177701"/>
          </a:xfrm>
          <a:prstGeom prst="roundRect">
            <a:avLst>
              <a:gd name="adj" fmla="val 21441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90479" y="2364879"/>
            <a:ext cx="4822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1,444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3527" y="2593330"/>
            <a:ext cx="462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9827" y="2580680"/>
            <a:ext cx="1714500" cy="177701"/>
          </a:xfrm>
          <a:prstGeom prst="roundRect">
            <a:avLst>
              <a:gd name="adj" fmla="val 21441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65078" y="2593330"/>
            <a:ext cx="3216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976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527" y="2821781"/>
            <a:ext cx="462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9827" y="2809131"/>
            <a:ext cx="1587401" cy="177701"/>
          </a:xfrm>
          <a:prstGeom prst="roundRect">
            <a:avLst>
              <a:gd name="adj" fmla="val 2144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37979" y="2821781"/>
            <a:ext cx="3216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3527" y="3050232"/>
            <a:ext cx="462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9827" y="3037582"/>
            <a:ext cx="965150" cy="177701"/>
          </a:xfrm>
          <a:prstGeom prst="roundRect">
            <a:avLst>
              <a:gd name="adj" fmla="val 2144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15728" y="3050232"/>
            <a:ext cx="3216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549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3527" y="3278684"/>
            <a:ext cx="462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9827" y="3266033"/>
            <a:ext cx="901601" cy="177701"/>
          </a:xfrm>
          <a:prstGeom prst="roundRect">
            <a:avLst>
              <a:gd name="adj" fmla="val 21441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952179" y="3278684"/>
            <a:ext cx="3216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3527" y="3507135"/>
            <a:ext cx="462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9827" y="3494484"/>
            <a:ext cx="800100" cy="177701"/>
          </a:xfrm>
          <a:prstGeom prst="roundRect">
            <a:avLst>
              <a:gd name="adj" fmla="val 21441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50678" y="3507135"/>
            <a:ext cx="3216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457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16798" y="1190030"/>
            <a:ext cx="1409700" cy="739676"/>
          </a:xfrm>
          <a:prstGeom prst="roundRect">
            <a:avLst>
              <a:gd name="adj" fmla="val 13736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50966" y="1326505"/>
            <a:ext cx="1341364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إجمالي المتأخرة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37291" y="1526530"/>
            <a:ext cx="156871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6,535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27999" y="1190030"/>
            <a:ext cx="1409700" cy="739676"/>
          </a:xfrm>
          <a:prstGeom prst="roundRect">
            <a:avLst>
              <a:gd name="adj" fmla="val 13736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28065" y="1326505"/>
            <a:ext cx="1409569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متوسط التأخير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93962" y="1526530"/>
            <a:ext cx="147777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10.6d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16798" y="2018556"/>
            <a:ext cx="2920901" cy="813197"/>
          </a:xfrm>
          <a:prstGeom prst="roundRect">
            <a:avLst>
              <a:gd name="adj" fmla="val 9370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78723" y="2129582"/>
            <a:ext cx="306452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لماذا تم إنشاء هذا الرسم؟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78723" y="2329607"/>
            <a:ext cx="2726903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لتحديد الأشهر ذات أعلى معدل تأخير في التوصيل لاتخاذ إجراءات لوجستية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16798" y="2920603"/>
            <a:ext cx="2920901" cy="1008757"/>
          </a:xfrm>
          <a:prstGeom prst="roundRect">
            <a:avLst>
              <a:gd name="adj" fmla="val 7554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978723" y="3031629"/>
            <a:ext cx="3064520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ما القرارات التي يدعمها؟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78723" y="3231654"/>
            <a:ext cx="2726903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تعزيز القدرة اللوجستية في مارس وفبراير ونوفمبر، والتفاوض مع شركات الشحن لتحسين مواعيد التسليم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16798" y="4018211"/>
            <a:ext cx="2920901" cy="613172"/>
          </a:xfrm>
          <a:prstGeom prst="roundRect">
            <a:avLst>
              <a:gd name="adj" fmla="val 1242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78723" y="4129236"/>
            <a:ext cx="2726903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6.57% من الطلبات تتأخر - مشكلة تحتاج تحسين لوجستي مستعجل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اتجاه صافي الربح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Net Profit Trend - Monthly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1948755"/>
            <a:ext cx="5486698" cy="1923752"/>
          </a:xfrm>
          <a:prstGeom prst="roundRect">
            <a:avLst>
              <a:gd name="adj" fmla="val 528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527" y="2085231"/>
            <a:ext cx="56234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Net Profit by Month ($K)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7877" y="2682180"/>
            <a:ext cx="4239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868K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8827" y="2859881"/>
            <a:ext cx="364182" cy="711101"/>
          </a:xfrm>
          <a:prstGeom prst="roundRect">
            <a:avLst>
              <a:gd name="adj" fmla="val 10462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8330" y="3583632"/>
            <a:ext cx="29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2810" y="2669381"/>
            <a:ext cx="4239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884K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760" y="2847082"/>
            <a:ext cx="364331" cy="723900"/>
          </a:xfrm>
          <a:prstGeom prst="roundRect">
            <a:avLst>
              <a:gd name="adj" fmla="val 1045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95524" y="3583632"/>
            <a:ext cx="3128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48842" y="2504331"/>
            <a:ext cx="5043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1.09M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48842" y="2682032"/>
            <a:ext cx="387995" cy="888950"/>
          </a:xfrm>
          <a:prstGeom prst="roundRect">
            <a:avLst>
              <a:gd name="adj" fmla="val 982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2512" y="3583632"/>
            <a:ext cx="3126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87587" y="2491680"/>
            <a:ext cx="5043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1.10M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87587" y="2669381"/>
            <a:ext cx="387995" cy="901601"/>
          </a:xfrm>
          <a:prstGeom prst="roundRect">
            <a:avLst>
              <a:gd name="adj" fmla="val 982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72866" y="3583632"/>
            <a:ext cx="28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26332" y="2377380"/>
            <a:ext cx="5043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1.24M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26332" y="2555081"/>
            <a:ext cx="387995" cy="1015901"/>
          </a:xfrm>
          <a:prstGeom prst="roundRect">
            <a:avLst>
              <a:gd name="adj" fmla="val 982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88394" y="3583632"/>
            <a:ext cx="343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65078" y="2529780"/>
            <a:ext cx="5043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1.05M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65078" y="2707481"/>
            <a:ext cx="387995" cy="863501"/>
          </a:xfrm>
          <a:prstGeom prst="roundRect">
            <a:avLst>
              <a:gd name="adj" fmla="val 982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46487" y="3583632"/>
            <a:ext cx="29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3823" y="2491680"/>
            <a:ext cx="4910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1.11M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3823" y="2669381"/>
            <a:ext cx="377726" cy="901601"/>
          </a:xfrm>
          <a:prstGeom prst="roundRect">
            <a:avLst>
              <a:gd name="adj" fmla="val 1008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03389" y="3583632"/>
            <a:ext cx="232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32299" y="2440781"/>
            <a:ext cx="5043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1.16M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32299" y="2618482"/>
            <a:ext cx="387995" cy="952500"/>
          </a:xfrm>
          <a:prstGeom prst="roundRect">
            <a:avLst>
              <a:gd name="adj" fmla="val 982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702100" y="358363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90095" y="2974181"/>
            <a:ext cx="4239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514K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71045" y="3151882"/>
            <a:ext cx="364182" cy="419100"/>
          </a:xfrm>
          <a:prstGeom prst="roundRect">
            <a:avLst>
              <a:gd name="adj" fmla="val 10462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128939" y="358363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05027" y="2923431"/>
            <a:ext cx="4239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580K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85977" y="3101132"/>
            <a:ext cx="364331" cy="469850"/>
          </a:xfrm>
          <a:prstGeom prst="roundRect">
            <a:avLst>
              <a:gd name="adj" fmla="val 1045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59498" y="3583632"/>
            <a:ext cx="28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20109" y="2720280"/>
            <a:ext cx="4239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822K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01059" y="2897981"/>
            <a:ext cx="364331" cy="673001"/>
          </a:xfrm>
          <a:prstGeom prst="roundRect">
            <a:avLst>
              <a:gd name="adj" fmla="val 1045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58953" y="358363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Nov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35191" y="2897981"/>
            <a:ext cx="4239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609K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16141" y="3075682"/>
            <a:ext cx="364331" cy="495300"/>
          </a:xfrm>
          <a:prstGeom prst="roundRect">
            <a:avLst>
              <a:gd name="adj" fmla="val 1045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74035" y="358363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70699" y="1361182"/>
            <a:ext cx="2667000" cy="584002"/>
          </a:xfrm>
          <a:prstGeom prst="roundRect">
            <a:avLst>
              <a:gd name="adj" fmla="val 13048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232624" y="1472208"/>
            <a:ext cx="276491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أعلى ربح: مايو $1.24M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32624" y="1672233"/>
            <a:ext cx="276491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يتوافق مع أعلى حجم طلبات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70699" y="2034034"/>
            <a:ext cx="2667000" cy="584002"/>
          </a:xfrm>
          <a:prstGeom prst="roundRect">
            <a:avLst>
              <a:gd name="adj" fmla="val 13048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232624" y="2145060"/>
            <a:ext cx="276491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أدنى ربح: سبتمبر $514K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32624" y="2345085"/>
            <a:ext cx="276491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هبوط حاد بسبب انخفاض الطلبات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70699" y="2706886"/>
            <a:ext cx="2667000" cy="660202"/>
          </a:xfrm>
          <a:prstGeom prst="roundRect">
            <a:avLst>
              <a:gd name="adj" fmla="val 11542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32624" y="2817912"/>
            <a:ext cx="276491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إجمالي صافي الربح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32624" y="3017937"/>
            <a:ext cx="29113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$11.02M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070699" y="3455938"/>
            <a:ext cx="2667000" cy="1004292"/>
          </a:xfrm>
          <a:prstGeom prst="roundRect">
            <a:avLst>
              <a:gd name="adj" fmla="val 758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232624" y="3566964"/>
            <a:ext cx="2460308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صافي الربح يتبع نمط الطلبات الموسمي. القرار: التركيز على تعزيز المبيعات في النصف الثاني لتقليل الفجوة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اتجاه الإيرادات الشهرية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Monthly Revenue Trend &amp; Reconciliation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1898005"/>
            <a:ext cx="5613797" cy="2025402"/>
          </a:xfrm>
          <a:prstGeom prst="roundRect">
            <a:avLst>
              <a:gd name="adj" fmla="val 501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527" y="2034480"/>
            <a:ext cx="576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Revenue vs Net Profit vs Payments ($K)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3527" y="2320230"/>
            <a:ext cx="152400" cy="38100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6677" y="2263080"/>
            <a:ext cx="72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7927" y="2320230"/>
            <a:ext cx="152400" cy="3810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11077" y="2263080"/>
            <a:ext cx="7215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45395" y="2320230"/>
            <a:ext cx="152400" cy="3810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48545" y="2263080"/>
            <a:ext cx="806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Payments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8827" y="2377380"/>
            <a:ext cx="397371" cy="914400"/>
          </a:xfrm>
          <a:prstGeom prst="roundRect">
            <a:avLst>
              <a:gd name="adj" fmla="val 6392"/>
            </a:avLst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827" y="3304431"/>
            <a:ext cx="397371" cy="30480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4850" y="3634532"/>
            <a:ext cx="29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4298" y="2364730"/>
            <a:ext cx="397520" cy="927050"/>
          </a:xfrm>
          <a:prstGeom prst="roundRect">
            <a:avLst>
              <a:gd name="adj" fmla="val 6390"/>
            </a:avLst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54298" y="3304431"/>
            <a:ext cx="397520" cy="30480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32731" y="3634532"/>
            <a:ext cx="3128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89918" y="2224980"/>
            <a:ext cx="397371" cy="990600"/>
          </a:xfrm>
          <a:prstGeom prst="roundRect">
            <a:avLst>
              <a:gd name="adj" fmla="val 6392"/>
            </a:avLst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89918" y="3228231"/>
            <a:ext cx="397371" cy="38100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68351" y="3634532"/>
            <a:ext cx="3126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5389" y="2224980"/>
            <a:ext cx="397520" cy="990600"/>
          </a:xfrm>
          <a:prstGeom prst="roundRect">
            <a:avLst>
              <a:gd name="adj" fmla="val 6390"/>
            </a:avLst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925389" y="3228231"/>
            <a:ext cx="397520" cy="38100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15430" y="3634532"/>
            <a:ext cx="28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61009" y="2123480"/>
            <a:ext cx="397371" cy="1041350"/>
          </a:xfrm>
          <a:prstGeom prst="roundRect">
            <a:avLst>
              <a:gd name="adj" fmla="val 6392"/>
            </a:avLst>
          </a:prstGeom>
          <a:solidFill>
            <a:srgbClr val="06B6D4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61009" y="3177480"/>
            <a:ext cx="397371" cy="431750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427684" y="3634532"/>
            <a:ext cx="343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96480" y="2250579"/>
            <a:ext cx="397520" cy="977801"/>
          </a:xfrm>
          <a:prstGeom prst="roundRect">
            <a:avLst>
              <a:gd name="adj" fmla="val 6390"/>
            </a:avLst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796480" y="3241030"/>
            <a:ext cx="397520" cy="368201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882652" y="3634532"/>
            <a:ext cx="2927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32100" y="2212330"/>
            <a:ext cx="397371" cy="1003250"/>
          </a:xfrm>
          <a:prstGeom prst="roundRect">
            <a:avLst>
              <a:gd name="adj" fmla="val 6392"/>
            </a:avLst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232100" y="3228231"/>
            <a:ext cx="397371" cy="38100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41489" y="3634532"/>
            <a:ext cx="232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67571" y="2174379"/>
            <a:ext cx="397520" cy="1015901"/>
          </a:xfrm>
          <a:prstGeom prst="roundRect">
            <a:avLst>
              <a:gd name="adj" fmla="val 6390"/>
            </a:avLst>
          </a:prstGeom>
          <a:solidFill>
            <a:srgbClr val="06B6D4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667571" y="3202930"/>
            <a:ext cx="397520" cy="406301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742134" y="363453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03191" y="2618780"/>
            <a:ext cx="397520" cy="800100"/>
          </a:xfrm>
          <a:prstGeom prst="roundRect">
            <a:avLst>
              <a:gd name="adj" fmla="val 6390"/>
            </a:avLst>
          </a:prstGeom>
          <a:solidFill>
            <a:srgbClr val="EF444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103191" y="3431530"/>
            <a:ext cx="397520" cy="177701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177754" y="363453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EF444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38811" y="2568029"/>
            <a:ext cx="397520" cy="825401"/>
          </a:xfrm>
          <a:prstGeom prst="roundRect">
            <a:avLst>
              <a:gd name="adj" fmla="val 6390"/>
            </a:avLst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538811" y="3406080"/>
            <a:ext cx="397520" cy="20315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28852" y="3634532"/>
            <a:ext cx="28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Oct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74431" y="2402979"/>
            <a:ext cx="397520" cy="901601"/>
          </a:xfrm>
          <a:prstGeom prst="roundRect">
            <a:avLst>
              <a:gd name="adj" fmla="val 6390"/>
            </a:avLst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74431" y="3317230"/>
            <a:ext cx="397520" cy="292001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048994" y="363453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Nov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10051" y="2555379"/>
            <a:ext cx="397520" cy="825401"/>
          </a:xfrm>
          <a:prstGeom prst="roundRect">
            <a:avLst>
              <a:gd name="adj" fmla="val 6390"/>
            </a:avLst>
          </a:prstGeom>
          <a:solidFill>
            <a:srgbClr val="06B6D4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410051" y="3393430"/>
            <a:ext cx="397520" cy="215801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84614" y="3634532"/>
            <a:ext cx="32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Dec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97798" y="1380827"/>
            <a:ext cx="2539901" cy="698302"/>
          </a:xfrm>
          <a:prstGeom prst="roundRect">
            <a:avLst>
              <a:gd name="adj" fmla="val 14550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30248" y="1517303"/>
            <a:ext cx="267500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إجمالي الإيرادات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94231" y="1704529"/>
            <a:ext cx="29470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$15.47M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197798" y="2167979"/>
            <a:ext cx="2539901" cy="698302"/>
          </a:xfrm>
          <a:prstGeom prst="roundRect">
            <a:avLst>
              <a:gd name="adj" fmla="val 14550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30248" y="2304455"/>
            <a:ext cx="267500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الإيرادات المتوقعة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994231" y="2491680"/>
            <a:ext cx="29470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$15.74M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197798" y="2955131"/>
            <a:ext cx="2539901" cy="698302"/>
          </a:xfrm>
          <a:prstGeom prst="roundRect">
            <a:avLst>
              <a:gd name="adj" fmla="val 14550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30248" y="3091607"/>
            <a:ext cx="267500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المدفوعات المستلمة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94231" y="3278832"/>
            <a:ext cx="29470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$16.01M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197798" y="3742283"/>
            <a:ext cx="2539901" cy="698302"/>
          </a:xfrm>
          <a:prstGeom prst="roundRect">
            <a:avLst>
              <a:gd name="adj" fmla="val 14550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62240" y="3878759"/>
            <a:ext cx="281101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نسبة التسوية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903553" y="4065984"/>
            <a:ext cx="31283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96.66%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تحليل طرق الدفع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Payment Method Analysis - Gauge Chart (From Dashboard)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1710779"/>
            <a:ext cx="2629049" cy="1149102"/>
          </a:xfrm>
          <a:prstGeom prst="roundRect">
            <a:avLst>
              <a:gd name="adj" fmla="val 8842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1602" y="1872704"/>
            <a:ext cx="2858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Credit Card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0238" y="2075855"/>
            <a:ext cx="318117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78.47%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9394" y="2367855"/>
            <a:ext cx="30428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$12,561,998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1602" y="2545556"/>
            <a:ext cx="2858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75,387 orders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36850" y="1710779"/>
            <a:ext cx="2629198" cy="1149102"/>
          </a:xfrm>
          <a:prstGeom prst="roundRect">
            <a:avLst>
              <a:gd name="adj" fmla="val 8842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52973" y="1872704"/>
            <a:ext cx="2996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Boleto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60759" y="2075855"/>
            <a:ext cx="31813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17.92%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9920" y="2367855"/>
            <a:ext cx="30430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$2,869,361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22134" y="2545556"/>
            <a:ext cx="28586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19,784 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301" y="2961382"/>
            <a:ext cx="2629049" cy="1149102"/>
          </a:xfrm>
          <a:prstGeom prst="roundRect">
            <a:avLst>
              <a:gd name="adj" fmla="val 8842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2446" y="3123307"/>
            <a:ext cx="2996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Voucher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0238" y="3326457"/>
            <a:ext cx="318117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2.25%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0238" y="3618458"/>
            <a:ext cx="31811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$359,573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1602" y="3796159"/>
            <a:ext cx="28584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2,739 orders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36850" y="2961382"/>
            <a:ext cx="2629198" cy="1149102"/>
          </a:xfrm>
          <a:prstGeom prst="roundRect">
            <a:avLst>
              <a:gd name="adj" fmla="val 8842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022134" y="3123307"/>
            <a:ext cx="28586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Debit Card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60759" y="3326457"/>
            <a:ext cx="31813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1.36%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860759" y="3618458"/>
            <a:ext cx="3181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$217,940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22134" y="3796159"/>
            <a:ext cx="28586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1,527 orders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749" y="1055489"/>
            <a:ext cx="2793950" cy="1008757"/>
          </a:xfrm>
          <a:prstGeom prst="roundRect">
            <a:avLst>
              <a:gd name="adj" fmla="val 7554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05674" y="1166515"/>
            <a:ext cx="291471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لماذا تم إنشاء Gauge Chart؟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05674" y="1366540"/>
            <a:ext cx="2593605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لعرض توزيع القيمة الإجمالية للمدفوعات ($16.01M) حسب طريقة الدفع بشكل بصري فوري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749" y="2153096"/>
            <a:ext cx="2793950" cy="813197"/>
          </a:xfrm>
          <a:prstGeom prst="roundRect">
            <a:avLst>
              <a:gd name="adj" fmla="val 9370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05674" y="2264122"/>
            <a:ext cx="291471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ما KPI الذي يقيسه؟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05674" y="2464147"/>
            <a:ext cx="2593605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نسبة وطريقة الدفع السائدة - مؤشر لسلوك العملاء المالي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749" y="3055144"/>
            <a:ext cx="2793950" cy="1008757"/>
          </a:xfrm>
          <a:prstGeom prst="roundRect">
            <a:avLst>
              <a:gd name="adj" fmla="val 7554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05674" y="3166170"/>
            <a:ext cx="291471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ما القرارات التي يدعمها؟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05674" y="3366195"/>
            <a:ext cx="2593605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تعزيز شراكات بطاقات الائتمان (78.5%)، تبسيط خيارات الدفع الأقل استخداماً، تحسين أمان المعاملات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749" y="4152751"/>
            <a:ext cx="2793950" cy="613172"/>
          </a:xfrm>
          <a:prstGeom prst="roundRect">
            <a:avLst>
              <a:gd name="adj" fmla="val 1242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05674" y="4263777"/>
            <a:ext cx="2593605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بطاقات الائتمان تهيمن على 78.5% - نقطة مهمة لاستراتيجية الدفع والرسوم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لوحة المؤشرات المالية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Financial KPI Panel - All Key Performance Indicators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830312"/>
            <a:ext cx="2709416" cy="958751"/>
          </a:xfrm>
          <a:prstGeom prst="roundRect">
            <a:avLst>
              <a:gd name="adj" fmla="val 10597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3525" y="966788"/>
            <a:ext cx="281496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إجمالي الإيرادات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91" y="1166813"/>
            <a:ext cx="3101236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$15.47M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1958" y="1500188"/>
            <a:ext cx="2958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17218" y="830312"/>
            <a:ext cx="2709565" cy="958751"/>
          </a:xfrm>
          <a:prstGeom prst="roundRect">
            <a:avLst>
              <a:gd name="adj" fmla="val 10597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64428" y="966788"/>
            <a:ext cx="2815144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الإيرادات المتوقعة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21285" y="1166813"/>
            <a:ext cx="3101429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$15.74M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64428" y="1500188"/>
            <a:ext cx="281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Expected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28283" y="830312"/>
            <a:ext cx="2709416" cy="958751"/>
          </a:xfrm>
          <a:prstGeom prst="roundRect">
            <a:avLst>
              <a:gd name="adj" fmla="val 10597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75507" y="966788"/>
            <a:ext cx="281496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المدفوعات المستلمة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2373" y="1166813"/>
            <a:ext cx="3101236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$16.01M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75507" y="1500188"/>
            <a:ext cx="2814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Payment Received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301" y="1865263"/>
            <a:ext cx="2709416" cy="958751"/>
          </a:xfrm>
          <a:prstGeom prst="roundRect">
            <a:avLst>
              <a:gd name="adj" fmla="val 10597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1958" y="2001738"/>
            <a:ext cx="295810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نسبة التسوية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968" y="2201763"/>
            <a:ext cx="3292081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96.66%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3525" y="2535138"/>
            <a:ext cx="2814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Revenue Reconciliation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17218" y="1865263"/>
            <a:ext cx="2709565" cy="958751"/>
          </a:xfrm>
          <a:prstGeom prst="roundRect">
            <a:avLst>
              <a:gd name="adj" fmla="val 10597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92857" y="2001738"/>
            <a:ext cx="2958286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صافي الربح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21285" y="2201763"/>
            <a:ext cx="3101429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$11.02M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092857" y="2535138"/>
            <a:ext cx="29582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28283" y="1865263"/>
            <a:ext cx="2709416" cy="958751"/>
          </a:xfrm>
          <a:prstGeom prst="roundRect">
            <a:avLst>
              <a:gd name="adj" fmla="val 10597"/>
            </a:avLst>
          </a:prstGeom>
          <a:solidFill>
            <a:srgbClr val="06B6D4">
              <a:alpha val="8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75507" y="2001738"/>
            <a:ext cx="281496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هامش الربح الإجمالي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36951" y="2201763"/>
            <a:ext cx="3292081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B6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71.24%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03940" y="2535138"/>
            <a:ext cx="29581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1100" dirty="0">
                <a:solidFill>
                  <a:srgbClr val="F8FAFC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6301" y="2900214"/>
            <a:ext cx="8331398" cy="641152"/>
          </a:xfrm>
          <a:prstGeom prst="roundRect">
            <a:avLst>
              <a:gd name="adj" fmla="val 11885"/>
            </a:avLst>
          </a:prstGeom>
          <a:solidFill>
            <a:srgbClr val="7C3AED">
              <a:alpha val="6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93527" y="3011239"/>
            <a:ext cx="835479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8FAFC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كل مؤشر مالي يمنح الإدارة رؤية فورية: الإيرادات تقيس حجم المبيعات، هامش الربح يقيس الكفاءة، نسبة التسوية تكشف دقة التقديرات. المدفوعات المستلمة تفوق الإيرادات المتوقعة مما يشير لتحصيل ممتاز.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" y="215801"/>
            <a:ext cx="8636000" cy="34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الرؤى والنتائج الرئيسية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" y="558552"/>
            <a:ext cx="86360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40"/>
              </a:lnSpc>
              <a:buNone/>
            </a:pPr>
            <a:r>
              <a:rPr lang="en-US" sz="1100" dirty="0">
                <a:solidFill>
                  <a:srgbClr val="F8FAFC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Insights &amp; Findings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6301" y="1402705"/>
            <a:ext cx="8331398" cy="428625"/>
          </a:xfrm>
          <a:prstGeom prst="roundRect">
            <a:avLst>
              <a:gd name="adj" fmla="val 23704"/>
            </a:avLst>
          </a:prstGeom>
          <a:solidFill>
            <a:srgbClr val="22C55E">
              <a:alpha val="6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3527" y="157891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6677" y="1526530"/>
            <a:ext cx="5911275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كفاءة تسليم عالية: 97% من الطلبات (96,478) تم تسليمها بنجاح - مؤشر تشغيلي ممتاز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920180"/>
            <a:ext cx="8331398" cy="428625"/>
          </a:xfrm>
          <a:prstGeom prst="roundRect">
            <a:avLst>
              <a:gd name="adj" fmla="val 23704"/>
            </a:avLst>
          </a:prstGeom>
          <a:solidFill>
            <a:srgbClr val="7C3AED">
              <a:alpha val="6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527" y="209639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677" y="2044005"/>
            <a:ext cx="4958313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هامش ربح قوي: 71.24% مع صافي ربح يتجاوز $11M - كفاءة مالية عالية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2437656"/>
            <a:ext cx="8331398" cy="428625"/>
          </a:xfrm>
          <a:prstGeom prst="roundRect">
            <a:avLst>
              <a:gd name="adj" fmla="val 23704"/>
            </a:avLst>
          </a:prstGeom>
          <a:solidFill>
            <a:srgbClr val="06B6D4">
              <a:alpha val="6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3527" y="261386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677" y="2561481"/>
            <a:ext cx="6648629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سيطرة بطاقات الائتمان: 78.5% من المعاملات عبر credit_card ($12.56M) - قناة الدفع الأساسية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2955131"/>
            <a:ext cx="8331398" cy="428625"/>
          </a:xfrm>
          <a:prstGeom prst="roundRect">
            <a:avLst>
              <a:gd name="adj" fmla="val 23704"/>
            </a:avLst>
          </a:prstGeom>
          <a:solidFill>
            <a:srgbClr val="F59E0B">
              <a:alpha val="6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3527" y="313134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677" y="3078956"/>
            <a:ext cx="6791712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تحدي التوصيل المتأخر: 6,535 طلب (6.57%) بمتوسط تأخير 10.6 يوم - يحتاج تحسين لوجستي عاجل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3472607"/>
            <a:ext cx="8331398" cy="428625"/>
          </a:xfrm>
          <a:prstGeom prst="roundRect">
            <a:avLst>
              <a:gd name="adj" fmla="val 23704"/>
            </a:avLst>
          </a:prstGeom>
          <a:solidFill>
            <a:srgbClr val="22C55E">
              <a:alpha val="6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527" y="364881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677" y="3596432"/>
            <a:ext cx="6897633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تسوية مالية جيدة: 96.66% والمدفوعات المستلمة ($16.01M) تفوق الإيرادات المتوقعة - تحصيل ممتاز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01" y="3990082"/>
            <a:ext cx="8331398" cy="428625"/>
          </a:xfrm>
          <a:prstGeom prst="roundRect">
            <a:avLst>
              <a:gd name="adj" fmla="val 23704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3527" y="416629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677" y="4113907"/>
            <a:ext cx="6788110" cy="19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موسمية واضحة: أغسطس أعلى شهر طلبات (10,843) وسبتمبر أدنى (4,305) - يحتاج تخطيط للموارد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ppt-workspace/assets/closing-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001762"/>
            <a:ext cx="609600" cy="38100"/>
          </a:xfrm>
          <a:prstGeom prst="roundRect">
            <a:avLst>
              <a:gd name="adj" fmla="val 6666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878582" y="1293763"/>
            <a:ext cx="3386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ولكن... القصة لم تنتهِ هنا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343400" y="1877764"/>
            <a:ext cx="457200" cy="19050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359447" y="2150715"/>
            <a:ext cx="4425107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8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8FAFC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هذه اللوحة هي فقط الطبقة المرئية لمحرك تحليلي أكبر بكثير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10559" y="2490936"/>
            <a:ext cx="532273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2800"/>
              </a:spcAft>
              <a:buNone/>
            </a:pPr>
            <a:r>
              <a:rPr lang="en-US" sz="1200" dirty="0">
                <a:solidFill>
                  <a:srgbClr val="F8FAFC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الأنماط المخفية والفرص التنبؤية والنماذج التحليلية المستقبلية قيد التطوير حالياً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67200" y="3075087"/>
            <a:ext cx="609600" cy="12650"/>
          </a:xfrm>
          <a:prstGeom prst="rect">
            <a:avLst/>
          </a:prstGeom>
          <a:solidFill>
            <a:srgbClr val="F8FAFC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254457" y="3341638"/>
            <a:ext cx="6634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400"/>
              </a:spcAft>
              <a:buNone/>
            </a:pPr>
            <a:r>
              <a:rPr lang="en-US" sz="3600" b="1" kern="0" spc="400" dirty="0">
                <a:solidFill>
                  <a:srgbClr val="7C3AED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 BE CONTINUED...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267200" y="4103489"/>
            <a:ext cx="609600" cy="38100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1373</Words>
  <Application>Microsoft Office PowerPoint</Application>
  <PresentationFormat>On-screen Show (16:9)</PresentationFormat>
  <Paragraphs>313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EXPRESS</cp:lastModifiedBy>
  <cp:revision>2</cp:revision>
  <dcterms:created xsi:type="dcterms:W3CDTF">2026-05-30T22:04:56Z</dcterms:created>
  <dcterms:modified xsi:type="dcterms:W3CDTF">2026-05-31T00:25:41Z</dcterms:modified>
</cp:coreProperties>
</file>